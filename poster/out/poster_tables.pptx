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32404050" cy="4320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417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3440"/>
                </a:solidFill>
                <a:latin typeface="맑은 고딕"/>
              </a:rPr>
              <a:t>세 연구 지역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41732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400"/>
                <a:gridCol w="3149600"/>
                <a:gridCol w="3149600"/>
                <a:gridCol w="314960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대전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홍천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순천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도시 파편화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연속 산림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상록 침엽 조림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침엽 / 활엽 / 혼효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33 / 46 / 17%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36 / 52 / 11%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48 / 38 / 10%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우점 수종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리기다소나무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낙엽송, 잣나무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편백, 곰솔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침엽 중 낙엽송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8.6%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8553D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라벨 픽셀 (2024+ 갱신)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103만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474만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187만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583680"/>
            <a:ext cx="1417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A8591"/>
                </a:solidFill>
                <a:latin typeface="맑은 고딕"/>
              </a:rPr>
              <a:t>세 지역은 무작위 표본이 아니라 임상 구성이 대비되도록 고른 대조 사례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417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3440"/>
                </a:solidFill>
                <a:latin typeface="맑은 고딕"/>
              </a:rPr>
              <a:t>임상별 탄소계수 (확정)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417319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9808"/>
                <a:gridCol w="3081130"/>
                <a:gridCol w="3081130"/>
                <a:gridCol w="308113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침엽수림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활엽수림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혼효림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탄소저장량 (tC/ha)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79.25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101.02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92.01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474720"/>
            <a:ext cx="1417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A8591"/>
                </a:solidFill>
                <a:latin typeface="맑은 고딕"/>
              </a:rPr>
              <a:t>출처: 강원 NFI 2013 / 온실가스종합정보센터 공표값 · 혼효림은 국가 인벤토리 규약(50:50)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417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3440"/>
                </a:solidFill>
                <a:latin typeface="맑은 고딕"/>
              </a:rPr>
              <a:t>지역 간 전이 9조합 — Random Forest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4173200" cy="777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2352"/>
                <a:gridCol w="2834640"/>
                <a:gridCol w="3118104"/>
                <a:gridCol w="3118104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학습 → 평가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macro F1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탄소 순오차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탄소 총오차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대전 → 대전  (지역 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0.601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+1.30%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5.21%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홍천 → 홍천  (지역 내)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0.620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+1.55%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4.87%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순천 → 순천  (지역 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+1.36%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대전 → 홍천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0.525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8553D"/>
                          </a:solidFill>
                          <a:latin typeface="맑은 고딕"/>
                        </a:rPr>
                        <a:t>+3.73%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5.88%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대전 → 순천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-2.63%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5.48%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홍천 → 대전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0.584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+0.12%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5.64%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홍천 → 순천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0.481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3A7CA5"/>
                          </a:solidFill>
                          <a:latin typeface="맑은 고딕"/>
                        </a:rPr>
                        <a:t>-3.41%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6.85%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순천 → 대전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0.572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8553D"/>
                          </a:solidFill>
                          <a:latin typeface="맑은 고딕"/>
                        </a:rPr>
                        <a:t>+3.55%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5.84%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순천 → 홍천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0.500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C8553D"/>
                          </a:solidFill>
                          <a:latin typeface="맑은 고딕"/>
                        </a:rPr>
                        <a:t>+5.67%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6.56%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9692640"/>
            <a:ext cx="1417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A8591"/>
                </a:solidFill>
                <a:latin typeface="맑은 고딕"/>
              </a:rPr>
              <a:t>순오차 = 지역 탄소총량이 틀린 정도(+ 과대 / − 과소) · 총오차 = 틀린 픽셀의 양 · 시드 3개 평균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417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3440"/>
                </a:solidFill>
                <a:latin typeface="맑은 고딕"/>
              </a:rPr>
              <a:t>모델별 탄소 |순오차| (시드 3개, 평균 ± 표준편차)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4173197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772"/>
                <a:gridCol w="3221181"/>
                <a:gridCol w="3221181"/>
                <a:gridCol w="2899063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지역 내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지역 간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맑은 고딕"/>
                        </a:rPr>
                        <a:t>지역 간 F1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1.40 ± 0.01%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3.19 ± 0.03%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0.536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U-Net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0.84 ± 0.12%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C8553D"/>
                          </a:solidFill>
                          <a:latin typeface="맑은 고딕"/>
                        </a:rPr>
                        <a:t>3.25 ± 0.94%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0.468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2B3440"/>
                          </a:solidFill>
                          <a:latin typeface="맑은 고딕"/>
                        </a:rPr>
                        <a:t>U-Net + AdaBN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0.75 ± 0.16%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2D6A4F"/>
                          </a:solidFill>
                          <a:latin typeface="맑은 고딕"/>
                        </a:rPr>
                        <a:t>1.68 ± 0.40%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0">
                          <a:solidFill>
                            <a:srgbClr val="2B3440"/>
                          </a:solidFill>
                          <a:latin typeface="맑은 고딕"/>
                        </a:rPr>
                        <a:t>0.520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29200"/>
            <a:ext cx="1417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A8591"/>
                </a:solidFill>
                <a:latin typeface="맑은 고딕"/>
              </a:rPr>
              <a:t>AdaBN: 라벨 없이 평가 지역 영상으로 BatchNorm 통계만 다시 계산 (가중치는 그대로)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417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B3440"/>
                </a:solidFill>
                <a:latin typeface="맑은 고딕"/>
              </a:rPr>
              <a:t>원인 가설 검증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41732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0620"/>
                <a:gridCol w="4251960"/>
                <a:gridCol w="496062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가설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실험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3D6B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모델 용량 부족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트리 80→150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기각 (0.33%p)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모델 구조 (공간 정보)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RF → U-Net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기각 (3.19 → 3.25%)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침엽 수종 다양성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수종 1→4종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기각 (0.014%p)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낙엽송 노출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비율 0→33% 통제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B07A1E"/>
                          </a:solidFill>
                          <a:latin typeface="맑은 고딕"/>
                        </a:rPr>
                        <a:t>부분 (1.04%p)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B3440"/>
                          </a:solidFill>
                          <a:latin typeface="맑은 고딕"/>
                        </a:rPr>
                        <a:t>지역 분광 오프셋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B3440"/>
                          </a:solidFill>
                          <a:latin typeface="맑은 고딕"/>
                        </a:rPr>
                        <a:t>경계선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D6A4F"/>
                          </a:solidFill>
                          <a:latin typeface="맑은 고딕"/>
                        </a:rPr>
                        <a:t>지지 (부호 6/6, r=0.93)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